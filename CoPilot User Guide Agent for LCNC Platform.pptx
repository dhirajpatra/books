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Robot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regular.fntdata"/><Relationship Id="rId10" Type="http://schemas.openxmlformats.org/officeDocument/2006/relationships/slide" Target="slides/slide5.xml"/><Relationship Id="rId13" Type="http://schemas.openxmlformats.org/officeDocument/2006/relationships/font" Target="fonts/Roboto-italic.fntdata"/><Relationship Id="rId12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69d6543f9a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69d6543f9a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69d6543f9a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69d6543f9a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69d6543f9a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69d6543f9a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69d6543f9a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69d6543f9a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CoPilot User Guide Agent for LCNC Platform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AI-Powered Conversational Guidance for Low-Code/No-Code Development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Project Overview: Empowering Users with Intelligent Guidance</a:t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Challenge:</a:t>
            </a: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Users of Low-Code/No-Code (LCNC) platforms often face a steep learning curve, requiring extensive documentation or support to navigate complex functionalities. This can hinder adoption and productivity.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Solution:</a:t>
            </a: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Developed an </a:t>
            </a:r>
            <a:r>
              <a:rPr b="1"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AI-powered CoPilot agent</a:t>
            </a: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designed to act as a real-time conversational user guide, providing intelligent assistance and support directly within the LCNC platform.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Core Goal:</a:t>
            </a: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significantly reduce the learning curve, boost user productivity, and enhance the overall user experience on the LCNC platform.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Key Features: Conversational, Context-Aware &amp; Proactive</a:t>
            </a:r>
            <a:endParaRPr/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Conversational User Guide:</a:t>
            </a: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Offers natural, step-by-step instructions and clear explanations, allowing users to efficiently complete tasks and understand platform features.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Context-Aware Support:</a:t>
            </a: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Leverages advanced AI to understand the user's current task, screen, or workflow, providing highly relevant and precise guidance. This minimizes confusion and reduces errors.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Proactive Suggestions:</a:t>
            </a: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Anticipates user needs by analyzing their actions and intentions, offering timely suggestions for improving workflow, optimizing designs, or resolving potential issues before they arise.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Multi-Modal Interaction:</a:t>
            </a: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Ensures accessibility and user-friendliness by supporting interactions through </a:t>
            </a:r>
            <a:r>
              <a:rPr b="1"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text, voice commands, and visual cues</a:t>
            </a: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(e.g., highlighting UI elements based on conversation).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Technical Deep Dive: GenAI, RAG &amp; Agentic Architecture</a:t>
            </a:r>
            <a:endParaRPr/>
          </a:p>
        </p:txBody>
      </p:sp>
      <p:sp>
        <p:nvSpPr>
          <p:cNvPr id="86" name="Google Shape;86;p16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en-GB" sz="80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Hybrid LLM Approach:</a:t>
            </a:r>
            <a:endParaRPr b="1" sz="80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717" lvl="0" marL="457200" rtl="0" algn="l">
              <a:lnSpc>
                <a:spcPct val="105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805"/>
              <a:buFont typeface="Arial"/>
              <a:buChar char="●"/>
            </a:pPr>
            <a:r>
              <a:rPr b="1" lang="en-GB" sz="80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API:</a:t>
            </a:r>
            <a:r>
              <a:rPr lang="en-GB" sz="80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Utilized for the conversational bot and core agentic reasoning, leveraging its advanced generative capabilities for natural and intelligent dialogue.</a:t>
            </a:r>
            <a:endParaRPr sz="80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717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5"/>
              <a:buFont typeface="Arial"/>
              <a:buChar char="●"/>
            </a:pPr>
            <a:r>
              <a:rPr b="1" lang="en-GB" sz="80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Open-Source LLMs (with Ollama):</a:t>
            </a:r>
            <a:r>
              <a:rPr lang="en-GB" sz="80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Employed for localized embedding generation and potentially specific domain adaptation tasks, providing flexibility and efficiency.</a:t>
            </a:r>
            <a:endParaRPr sz="80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500"/>
              </a:spcBef>
              <a:spcAft>
                <a:spcPts val="0"/>
              </a:spcAft>
              <a:buSzPts val="605"/>
              <a:buNone/>
            </a:pPr>
            <a:r>
              <a:rPr b="1" lang="en-GB" sz="80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Retrieval-Augmented Generation (RAG):</a:t>
            </a:r>
            <a:endParaRPr b="1" sz="80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717" lvl="0" marL="457200" rtl="0" algn="l">
              <a:lnSpc>
                <a:spcPct val="105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805"/>
              <a:buFont typeface="Arial"/>
              <a:buChar char="●"/>
            </a:pPr>
            <a:r>
              <a:rPr b="1" lang="en-GB" sz="80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Vector Embeddings:</a:t>
            </a:r>
            <a:r>
              <a:rPr lang="en-GB" sz="80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Generated using open-source LLMs and </a:t>
            </a:r>
            <a:r>
              <a:rPr b="1" lang="en-GB" sz="80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Ollama</a:t>
            </a:r>
            <a:r>
              <a:rPr lang="en-GB" sz="80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transforming user guide documentation and platform knowledge base into searchable vectors.</a:t>
            </a:r>
            <a:endParaRPr sz="80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717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5"/>
              <a:buFont typeface="Arial"/>
              <a:buChar char="●"/>
            </a:pPr>
            <a:r>
              <a:rPr b="1" lang="en-GB" sz="80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Intelligent Retrieval:</a:t>
            </a:r>
            <a:r>
              <a:rPr lang="en-GB" sz="80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When a user asks a question, the CoPilot retrieves the most relevant information from the vectorized knowledge base.</a:t>
            </a:r>
            <a:endParaRPr sz="80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717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5"/>
              <a:buFont typeface="Arial"/>
              <a:buChar char="●"/>
            </a:pPr>
            <a:r>
              <a:rPr b="1" lang="en-GB" sz="80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Augmented Generation:</a:t>
            </a:r>
            <a:r>
              <a:rPr lang="en-GB" sz="80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This retrieved context is then fed to the OpenAI LLM, enabling it to generate highly accurate, detailed, and context-specific responses, significantly reducing "hallucinations."</a:t>
            </a:r>
            <a:endParaRPr sz="80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500"/>
              </a:spcBef>
              <a:spcAft>
                <a:spcPts val="0"/>
              </a:spcAft>
              <a:buSzPts val="605"/>
              <a:buNone/>
            </a:pPr>
            <a:r>
              <a:rPr b="1" lang="en-GB" sz="80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Dialogue Management Systems:</a:t>
            </a:r>
            <a:r>
              <a:rPr lang="en-GB" sz="80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Implemented robust systems to manage conversation flow, track user intent, and maintain context across interactions.</a:t>
            </a:r>
            <a:endParaRPr sz="80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en-GB" sz="80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Frontend &amp; API:</a:t>
            </a:r>
            <a:endParaRPr b="1" sz="80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717" lvl="0" marL="457200" rtl="0" algn="l">
              <a:lnSpc>
                <a:spcPct val="105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805"/>
              <a:buFont typeface="Arial"/>
              <a:buChar char="●"/>
            </a:pPr>
            <a:r>
              <a:rPr b="1" lang="en-GB" sz="80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Streamlit:</a:t>
            </a:r>
            <a:r>
              <a:rPr lang="en-GB" sz="80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Used for developing the interactive conversational interface, ensuring a user-friendly experience.</a:t>
            </a:r>
            <a:endParaRPr sz="80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717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5"/>
              <a:buFont typeface="Arial"/>
              <a:buChar char="●"/>
            </a:pPr>
            <a:r>
              <a:rPr b="1" lang="en-GB" sz="80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REST API:</a:t>
            </a:r>
            <a:r>
              <a:rPr lang="en-GB" sz="80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Provided the seamless integration layer between the LCNC platform and the backend AI services, ensuring smooth data exchange in a stateless </a:t>
            </a:r>
            <a:r>
              <a:rPr b="1" lang="en-GB" sz="80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session environment</a:t>
            </a:r>
            <a:r>
              <a:rPr lang="en-GB" sz="80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80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500"/>
              </a:spcBef>
              <a:spcAft>
                <a:spcPts val="0"/>
              </a:spcAft>
              <a:buSzPts val="605"/>
              <a:buNone/>
            </a:pPr>
            <a:r>
              <a:rPr b="1" lang="en-GB" sz="80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Customizable &amp; Adaptable:</a:t>
            </a:r>
            <a:r>
              <a:rPr lang="en-GB" sz="80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agent's knowledge base and fine-tuning parameters allow for easy adaptation to new platform updates, features, and specific user cohorts.</a:t>
            </a:r>
            <a:endParaRPr sz="80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SzPts val="605"/>
              <a:buNone/>
            </a:pPr>
            <a:r>
              <a:t/>
            </a:r>
            <a:endParaRPr sz="119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Project Impact: Driving Adoption &amp; Productivity</a:t>
            </a:r>
            <a:endParaRPr/>
          </a:p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Improved User Experience:</a:t>
            </a: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Significantly reduces the learning curve for new users and enhances overall platform usability, making the LCNC platform more intuitive and accessible.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Increased Productivity:</a:t>
            </a: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By offering real-time, context-aware guidance, the CoPilot empowers users to complete tasks more efficiently, accelerating development workflows on the LCNC platform.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Enhanced Customer Support:</a:t>
            </a: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Acts as a powerful first line of defense for support queries, providing instant 24/7 assistance and reducing the load on human support teams.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Future-Proofed:</a:t>
            </a: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modular and adaptable architecture allows for continuous improvement and integration of future AI advancements, ensuring the CoPilot remains a cutting-edge solution.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