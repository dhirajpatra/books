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d62a094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d62a094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9d62a094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9d62a094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9d62a094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9d62a094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9d62a094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9d62a09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d62a09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9d62a09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HailGuard: AI/ML-Based Hail Forecasting for Solar Plants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Proactive Protection for Solar Infrastructure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Mitigating Hail Risk in Solar Energy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Domain:</a:t>
            </a:r>
            <a:r>
              <a:rPr lang="en-GB" sz="1900">
                <a:solidFill>
                  <a:schemeClr val="dk1"/>
                </a:solidFill>
              </a:rPr>
              <a:t> Solar Energy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Duration:</a:t>
            </a:r>
            <a:r>
              <a:rPr lang="en-GB" sz="1900">
                <a:solidFill>
                  <a:schemeClr val="dk1"/>
                </a:solidFill>
              </a:rPr>
              <a:t> January 2022 - November 2022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The Challenge:</a:t>
            </a:r>
            <a:r>
              <a:rPr lang="en-GB" sz="1900">
                <a:solidFill>
                  <a:schemeClr val="dk1"/>
                </a:solidFill>
              </a:rPr>
              <a:t> Solar plants in hail-prone regions (especially in the USA) face significant damage from hailstorms, often with limited insurance coverage.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The Solution:</a:t>
            </a:r>
            <a:r>
              <a:rPr lang="en-GB" sz="1900">
                <a:solidFill>
                  <a:schemeClr val="dk1"/>
                </a:solidFill>
              </a:rPr>
              <a:t> </a:t>
            </a:r>
            <a:r>
              <a:rPr b="1" lang="en-GB" sz="1900">
                <a:solidFill>
                  <a:schemeClr val="dk1"/>
                </a:solidFill>
              </a:rPr>
              <a:t>HailGuard</a:t>
            </a:r>
            <a:r>
              <a:rPr lang="en-GB" sz="1900">
                <a:solidFill>
                  <a:schemeClr val="dk1"/>
                </a:solidFill>
              </a:rPr>
              <a:t> - a pioneering AI/ML application providing advanced hail forecasting to protect solar assets from potential damage.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HailGuard: Data-Driven Forecasting &amp; Prediction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709900" cy="3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145"/>
              <a:buFont typeface="Arial"/>
              <a:buNone/>
            </a:pPr>
            <a:r>
              <a:rPr b="1" lang="en-GB" sz="2609">
                <a:solidFill>
                  <a:schemeClr val="dk1"/>
                </a:solidFill>
              </a:rPr>
              <a:t>Core Objective:</a:t>
            </a:r>
            <a:r>
              <a:rPr lang="en-GB" sz="2609">
                <a:solidFill>
                  <a:schemeClr val="dk1"/>
                </a:solidFill>
              </a:rPr>
              <a:t> Predict hailstorm timing, severity, and likelihood to enable proactive protective measures.</a:t>
            </a:r>
            <a:endParaRPr sz="26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145"/>
              <a:buFont typeface="Arial"/>
              <a:buNone/>
            </a:pPr>
            <a:r>
              <a:rPr b="1" lang="en-GB" sz="2609">
                <a:solidFill>
                  <a:schemeClr val="dk1"/>
                </a:solidFill>
              </a:rPr>
              <a:t>Key Data Sources:</a:t>
            </a:r>
            <a:endParaRPr b="1"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609">
                <a:solidFill>
                  <a:schemeClr val="dk1"/>
                </a:solidFill>
              </a:rPr>
              <a:t>DTN Weather Forecasting API:</a:t>
            </a:r>
            <a:r>
              <a:rPr lang="en-GB" sz="2609">
                <a:solidFill>
                  <a:schemeClr val="dk1"/>
                </a:solidFill>
              </a:rPr>
              <a:t> Integrated for real-time storm corridor data and identification of at-risk areas.</a:t>
            </a:r>
            <a:endParaRPr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609">
                <a:solidFill>
                  <a:schemeClr val="dk1"/>
                </a:solidFill>
              </a:rPr>
              <a:t>MRMS USA Government Site:</a:t>
            </a:r>
            <a:r>
              <a:rPr lang="en-GB" sz="2609">
                <a:solidFill>
                  <a:schemeClr val="dk1"/>
                </a:solidFill>
              </a:rPr>
              <a:t> Utilized web scraping (Python) to gather current weather data for model input.</a:t>
            </a:r>
            <a:endParaRPr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609">
                <a:solidFill>
                  <a:schemeClr val="dk1"/>
                </a:solidFill>
              </a:rPr>
              <a:t>Environmental Sensors:</a:t>
            </a:r>
            <a:r>
              <a:rPr lang="en-GB" sz="2609">
                <a:solidFill>
                  <a:schemeClr val="dk1"/>
                </a:solidFill>
              </a:rPr>
              <a:t> Incorporated real-time sensor data (wind speed, direction, humidity, temperature) to enhance prediction accuracy.</a:t>
            </a:r>
            <a:endParaRPr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609">
                <a:solidFill>
                  <a:schemeClr val="dk1"/>
                </a:solidFill>
              </a:rPr>
              <a:t>Historical Weather Data:</a:t>
            </a:r>
            <a:r>
              <a:rPr lang="en-GB" sz="2609">
                <a:solidFill>
                  <a:schemeClr val="dk1"/>
                </a:solidFill>
              </a:rPr>
              <a:t> Leveraged extensive historical data for training and model validation.</a:t>
            </a:r>
            <a:endParaRPr sz="26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42145"/>
              <a:buFont typeface="Arial"/>
              <a:buNone/>
            </a:pPr>
            <a:r>
              <a:rPr b="1" lang="en-GB" sz="2609">
                <a:solidFill>
                  <a:schemeClr val="dk1"/>
                </a:solidFill>
              </a:rPr>
              <a:t>Advanced Forecasting Models:</a:t>
            </a:r>
            <a:endParaRPr b="1"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609">
                <a:solidFill>
                  <a:schemeClr val="dk1"/>
                </a:solidFill>
              </a:rPr>
              <a:t>Implemented </a:t>
            </a:r>
            <a:r>
              <a:rPr b="1" lang="en-GB" sz="2609">
                <a:solidFill>
                  <a:schemeClr val="dk1"/>
                </a:solidFill>
              </a:rPr>
              <a:t>Time Series Models (ARIMA, SARIMA)</a:t>
            </a:r>
            <a:r>
              <a:rPr lang="en-GB" sz="2609">
                <a:solidFill>
                  <a:schemeClr val="dk1"/>
                </a:solidFill>
              </a:rPr>
              <a:t> to analyze historical weather patterns and improve forecast precision, particularly for recurring atmospheric conditions.</a:t>
            </a:r>
            <a:endParaRPr sz="2609">
              <a:solidFill>
                <a:schemeClr val="dk1"/>
              </a:solidFill>
            </a:endParaRPr>
          </a:p>
          <a:p>
            <a:pPr indent="-30732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609">
                <a:solidFill>
                  <a:schemeClr val="dk1"/>
                </a:solidFill>
              </a:rPr>
              <a:t>Developed </a:t>
            </a:r>
            <a:r>
              <a:rPr b="1" lang="en-GB" sz="2609">
                <a:solidFill>
                  <a:schemeClr val="dk1"/>
                </a:solidFill>
              </a:rPr>
              <a:t>multiple forecasting models</a:t>
            </a:r>
            <a:r>
              <a:rPr lang="en-GB" sz="2609">
                <a:solidFill>
                  <a:schemeClr val="dk1"/>
                </a:solidFill>
              </a:rPr>
              <a:t> to provide comprehensive insights into hailstorm characteristics.</a:t>
            </a:r>
            <a:endParaRPr sz="26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42145"/>
              <a:buFont typeface="Arial"/>
              <a:buNone/>
            </a:pPr>
            <a:r>
              <a:rPr b="1" lang="en-GB" sz="2609">
                <a:solidFill>
                  <a:schemeClr val="dk1"/>
                </a:solidFill>
              </a:rPr>
              <a:t>Elevation Consideration:</a:t>
            </a:r>
            <a:r>
              <a:rPr lang="en-GB" sz="2609">
                <a:solidFill>
                  <a:schemeClr val="dk1"/>
                </a:solidFill>
              </a:rPr>
              <a:t> Factored in geographical elevation data, recognizing its critical influence on weather patterns, especially in rapid hail zones like Texas and Colorado.</a:t>
            </a:r>
            <a:endParaRPr sz="26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Real-time Mitigation &amp; Validation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Pulsar Implementation:</a:t>
            </a:r>
            <a:r>
              <a:rPr lang="en-GB" sz="1400">
                <a:solidFill>
                  <a:schemeClr val="dk1"/>
                </a:solidFill>
              </a:rPr>
              <a:t> Utilized </a:t>
            </a:r>
            <a:r>
              <a:rPr b="1" lang="en-GB" sz="1400">
                <a:solidFill>
                  <a:schemeClr val="dk1"/>
                </a:solidFill>
              </a:rPr>
              <a:t>Apache Pulsar</a:t>
            </a:r>
            <a:r>
              <a:rPr lang="en-GB" sz="1400">
                <a:solidFill>
                  <a:schemeClr val="dk1"/>
                </a:solidFill>
              </a:rPr>
              <a:t> (a distributed pub-sub messaging system) to: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Publish "hail stow events" to site-specific topics.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Enable Zone Controllers at solar sites to subscribe and trigger automated protective measures (e.g., panel tilting).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Proof of Concept (PoC) Success: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Successfully conducted a PoC test using the DTN storm corridor API.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Established optimal polling frequency, radius of interest, and hail stow threshold settings, validating the effectiveness of the predictive approach.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Innovation:</a:t>
            </a:r>
            <a:r>
              <a:rPr lang="en-GB" sz="1400">
                <a:solidFill>
                  <a:schemeClr val="dk1"/>
                </a:solidFill>
              </a:rPr>
              <a:t> Addressed a critical gap in insurance coverage for hail damage to solar plants by providing a preventative solution.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Role &amp; Driving Achievements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6817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Inventor, Architect &amp; Developer:</a:t>
            </a:r>
            <a:r>
              <a:rPr lang="en-GB" sz="1400">
                <a:solidFill>
                  <a:schemeClr val="dk1"/>
                </a:solidFill>
              </a:rPr>
              <a:t> Conceived, designed, and implemented the entire HailGuard application.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Lead Integrator:</a:t>
            </a:r>
            <a:r>
              <a:rPr lang="en-GB" sz="1400">
                <a:solidFill>
                  <a:schemeClr val="dk1"/>
                </a:solidFill>
              </a:rPr>
              <a:t> Spearheaded the integration of diverse data sources, including DTN API, web-scraped data, and environmental sensor inputs.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Advanced Model Development:</a:t>
            </a:r>
            <a:r>
              <a:rPr lang="en-GB" sz="1400">
                <a:solidFill>
                  <a:schemeClr val="dk1"/>
                </a:solidFill>
              </a:rPr>
              <a:t> Designed and implemented sophisticated time series and multi-model forecasting algorithms.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Innovative Hail Forecasting:</a:t>
            </a:r>
            <a:r>
              <a:rPr lang="en-GB" sz="1400">
                <a:solidFill>
                  <a:schemeClr val="dk1"/>
                </a:solidFill>
              </a:rPr>
              <a:t> Created a novel solution addressing a significant industry challenge in hail-prone regions.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Proof of Concept Validation:</a:t>
            </a:r>
            <a:r>
              <a:rPr lang="en-GB" sz="1400">
                <a:solidFill>
                  <a:schemeClr val="dk1"/>
                </a:solidFill>
              </a:rPr>
              <a:t> Successfully demonstrated the feasibility and effectiveness of the hail stow determination concept.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Enhanced Forecasting Accuracy:</a:t>
            </a:r>
            <a:r>
              <a:rPr lang="en-GB" sz="1400">
                <a:solidFill>
                  <a:schemeClr val="dk1"/>
                </a:solidFill>
              </a:rPr>
              <a:t> Significantly improved prediction accuracy by combining multiple data streams and advanced modeling techniques.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HailGuard's Impact: Resilient Solar Operations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6535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Proactive Protection:</a:t>
            </a:r>
            <a:r>
              <a:rPr lang="en-GB" sz="1600">
                <a:solidFill>
                  <a:schemeClr val="dk1"/>
                </a:solidFill>
              </a:rPr>
              <a:t> Provides solar plant operators with advanced warning of hailstorms, enabling timely protective actions.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Minimizing Damage &amp; Cost:</a:t>
            </a:r>
            <a:r>
              <a:rPr lang="en-GB" sz="1600">
                <a:solidFill>
                  <a:schemeClr val="dk1"/>
                </a:solidFill>
              </a:rPr>
              <a:t> Significantly reduces potential damage to solar panels and infrastructure, optimizing operational resilience and saving considerable financial resources.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Strategic Advantage:</a:t>
            </a:r>
            <a:r>
              <a:rPr lang="en-GB" sz="1600">
                <a:solidFill>
                  <a:schemeClr val="dk1"/>
                </a:solidFill>
              </a:rPr>
              <a:t> Offers a unique solution in regions where hail damage is a major concern and often uninsured.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Optimized Operations:</a:t>
            </a:r>
            <a:r>
              <a:rPr lang="en-GB" sz="1600">
                <a:solidFill>
                  <a:schemeClr val="dk1"/>
                </a:solidFill>
              </a:rPr>
              <a:t> Ensures continuous and reliable energy generation by mitigating weather-related disruptions.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Future Potential:</a:t>
            </a:r>
            <a:r>
              <a:rPr lang="en-GB" sz="1600">
                <a:solidFill>
                  <a:schemeClr val="dk1"/>
                </a:solidFill>
              </a:rPr>
              <a:t> HailGuard sets a new standard for weather risk management in the renewable energy sector, demonstrating the power of AI/ML in safeguarding critical assets.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